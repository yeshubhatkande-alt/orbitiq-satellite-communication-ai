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6858000"/>
  <p:notesSz cx="6858000" cy="12192000"/>
  <p:embeddedFontLst>
    <p:embeddedFont>
      <p:font typeface="Noto Serif Bold" charset="0"/>
      <p:regular r:id="rId23"/>
    </p:embeddedFont>
    <p:embeddedFont>
      <p:font typeface="Calibri" pitchFamily="34" charset="0"/>
      <p:regular r:id="rId24"/>
      <p:bold r:id="rId25"/>
      <p:italic r:id="rId26"/>
      <p:boldItalic r:id="rId27"/>
    </p:embeddedFont>
    <p:embeddedFont>
      <p:font typeface="Geist" charset="0"/>
      <p:regular r:id="rId28"/>
    </p:embeddedFont>
    <p:embeddedFont>
      <p:font typeface="Geist Bold" charset="0"/>
      <p:regular r:id="rId29"/>
    </p:embeddedFont>
    <p:embeddedFont>
      <p:font typeface="Consolas" pitchFamily="49" charset="0"/>
      <p:regular r:id="rId30"/>
      <p:bold r:id="rId31"/>
      <p:italic r:id="rId32"/>
      <p:boldItalic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-437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5F9F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hyperlink" Target="mailto:yeshubhatkande@gmail.com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2.svg"/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2.svg"/><Relationship Id="rId5" Type="http://schemas.openxmlformats.org/officeDocument/2006/relationships/image" Target="../media/image-2-2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-3-6.svg"/><Relationship Id="rId3" Type="http://schemas.openxmlformats.org/officeDocument/2006/relationships/image" Target="../media/image6.png"/><Relationship Id="rId7" Type="http://schemas.openxmlformats.org/officeDocument/2006/relationships/image" Target="../media/image-3-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-3-2.svg"/><Relationship Id="rId4" Type="http://schemas.openxmlformats.org/officeDocument/2006/relationships/image" Target="../media/image-3-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-4-6.sv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4-4.svg"/><Relationship Id="rId5" Type="http://schemas.openxmlformats.org/officeDocument/2006/relationships/image" Target="../media/image9.png"/><Relationship Id="rId10" Type="http://schemas.openxmlformats.org/officeDocument/2006/relationships/image" Target="../media/image-4-8.svg"/><Relationship Id="rId4" Type="http://schemas.openxmlformats.org/officeDocument/2006/relationships/image" Target="../media/image-4-2.sv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-6-4.svg"/><Relationship Id="rId12" Type="http://schemas.openxmlformats.org/officeDocument/2006/relationships/image" Target="../media/image-6-4.sv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-6-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6-4.svg"/><Relationship Id="rId11" Type="http://schemas.openxmlformats.org/officeDocument/2006/relationships/image" Target="../media/image-6-10.sv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image" Target="../media/image-6-2.svg"/><Relationship Id="rId9" Type="http://schemas.openxmlformats.org/officeDocument/2006/relationships/image" Target="../media/image-6-8.svg"/><Relationship Id="rId14" Type="http://schemas.openxmlformats.org/officeDocument/2006/relationships/image" Target="../media/image-6-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2.svg"/><Relationship Id="rId5" Type="http://schemas.openxmlformats.org/officeDocument/2006/relationships/image" Target="../media/image-8-2.svg"/><Relationship Id="rId4" Type="http://schemas.openxmlformats.org/officeDocument/2006/relationships/image" Target="../media/image-8-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1475" y="112027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University Engagement Project Submission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2401788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"Exploring the Power of Agentic AI with IBM Granite and IBM Bob"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2852440"/>
            <a:ext cx="4007643" cy="251420"/>
          </a:xfrm>
          <a:prstGeom prst="roundRect">
            <a:avLst>
              <a:gd name="adj" fmla="val 47364"/>
            </a:avLst>
          </a:prstGeom>
          <a:solidFill>
            <a:srgbClr val="CCFFEF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2902049"/>
            <a:ext cx="441879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SATELLITE COMMUNICATION KNOWLEDGE ASSISTANT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3289895"/>
            <a:ext cx="6296860" cy="2447727"/>
          </a:xfrm>
          <a:prstGeom prst="roundRect">
            <a:avLst>
              <a:gd name="adj" fmla="val 608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3296245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124044" y="0"/>
                </a:moveTo>
                <a:lnTo>
                  <a:pt x="3142080" y="0"/>
                </a:lnTo>
                <a:lnTo>
                  <a:pt x="3142080" y="1217513"/>
                </a:lnTo>
                <a:lnTo>
                  <a:pt x="0" y="1217513"/>
                </a:lnTo>
                <a:lnTo>
                  <a:pt x="0" y="124047"/>
                </a:lnTo>
                <a:arcTo wR="124044" hR="124047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9" name="Text 6"/>
          <p:cNvSpPr/>
          <p:nvPr/>
        </p:nvSpPr>
        <p:spPr>
          <a:xfrm>
            <a:off x="833119" y="3461544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Name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3119" y="3819227"/>
            <a:ext cx="281149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809905" y="3296245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0" y="0"/>
                </a:moveTo>
                <a:lnTo>
                  <a:pt x="3018036" y="0"/>
                </a:lnTo>
                <a:arcTo wR="124044" hR="124047" stAng="16200000" swAng="5400000"/>
                <a:lnTo>
                  <a:pt x="3142080" y="1217513"/>
                </a:lnTo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2" name="Shape 9"/>
          <p:cNvSpPr/>
          <p:nvPr/>
        </p:nvSpPr>
        <p:spPr>
          <a:xfrm>
            <a:off x="3809905" y="3296245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3" name="Text 10"/>
          <p:cNvSpPr/>
          <p:nvPr/>
        </p:nvSpPr>
        <p:spPr>
          <a:xfrm>
            <a:off x="3975199" y="3461544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Domain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75199" y="3819227"/>
            <a:ext cx="281149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Aerospace &amp; Satellite Communication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67825" y="4513759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0" y="0"/>
                </a:moveTo>
                <a:lnTo>
                  <a:pt x="3142080" y="0"/>
                </a:lnTo>
                <a:lnTo>
                  <a:pt x="3142080" y="1217513"/>
                </a:lnTo>
                <a:lnTo>
                  <a:pt x="124044" y="1217513"/>
                </a:lnTo>
                <a:arcTo wR="124044" hR="124047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825" y="4513759"/>
            <a:ext cx="3142080" cy="1905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7" name="Text 14"/>
          <p:cNvSpPr/>
          <p:nvPr/>
        </p:nvSpPr>
        <p:spPr>
          <a:xfrm>
            <a:off x="833119" y="4679057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Student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3119" y="4937522"/>
            <a:ext cx="2811491" cy="793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 err="1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Yashaswi</a:t>
            </a:r>
            <a:r>
              <a:rPr lang="en-US" sz="1400" dirty="0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</a:t>
            </a:r>
            <a:r>
              <a:rPr lang="en-US" sz="1400" dirty="0" err="1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Bhatkande</a:t>
            </a:r>
            <a:endParaRPr lang="en-US" sz="1400" dirty="0" smtClean="0">
              <a:solidFill>
                <a:srgbClr val="4B4A4A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  <a:hlinkClick r:id="rId4"/>
              </a:rPr>
              <a:t>yeshubhatkande@gmail.com</a:t>
            </a:r>
            <a:endParaRPr lang="en-US" sz="1400" dirty="0" smtClean="0">
              <a:solidFill>
                <a:srgbClr val="4B4A4A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 smtClean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6361107596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809905" y="4513759"/>
            <a:ext cx="3142080" cy="1217513"/>
          </a:xfrm>
          <a:custGeom>
            <a:avLst/>
            <a:gdLst/>
            <a:ahLst/>
            <a:cxnLst/>
            <a:rect l="l" t="t" r="r" b="b"/>
            <a:pathLst>
              <a:path w="3142080" h="1217513">
                <a:moveTo>
                  <a:pt x="0" y="0"/>
                </a:moveTo>
                <a:lnTo>
                  <a:pt x="3142080" y="0"/>
                </a:lnTo>
                <a:lnTo>
                  <a:pt x="3142080" y="1093467"/>
                </a:lnTo>
                <a:arcTo wR="124044" hR="124047" stAng="0" swAng="5400000"/>
                <a:lnTo>
                  <a:pt x="0" y="1217513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20" name="Shape 17"/>
          <p:cNvSpPr/>
          <p:nvPr/>
        </p:nvSpPr>
        <p:spPr>
          <a:xfrm>
            <a:off x="3809905" y="4513759"/>
            <a:ext cx="19050" cy="1217513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1" name="Shape 18"/>
          <p:cNvSpPr/>
          <p:nvPr/>
        </p:nvSpPr>
        <p:spPr>
          <a:xfrm>
            <a:off x="3809905" y="4513759"/>
            <a:ext cx="3142080" cy="1905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2" name="Text 19"/>
          <p:cNvSpPr/>
          <p:nvPr/>
        </p:nvSpPr>
        <p:spPr>
          <a:xfrm>
            <a:off x="3975199" y="4679057"/>
            <a:ext cx="281149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photo</a:t>
            </a:r>
            <a:endParaRPr lang="en-US" sz="1600" dirty="0"/>
          </a:p>
        </p:txBody>
      </p:sp>
      <p:pic>
        <p:nvPicPr>
          <p:cNvPr id="23" name="Picture 22" descr="WhatsApp Image 2026-09-23 at 11.04.36 PM.jpeg"/>
          <p:cNvPicPr>
            <a:picLocks noChangeAspect="1"/>
          </p:cNvPicPr>
          <p:nvPr/>
        </p:nvPicPr>
        <p:blipFill>
          <a:blip r:embed="rId5"/>
          <a:srcRect b="14101"/>
          <a:stretch>
            <a:fillRect/>
          </a:stretch>
        </p:blipFill>
        <p:spPr>
          <a:xfrm>
            <a:off x="4934904" y="4532809"/>
            <a:ext cx="948311" cy="1229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166"/>
            <a:ext cx="10868745" cy="492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Overview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7971" y="1192113"/>
            <a:ext cx="4118666" cy="5191720"/>
          </a:xfrm>
          <a:prstGeom prst="roundRect">
            <a:avLst>
              <a:gd name="adj" fmla="val 5511"/>
            </a:avLst>
          </a:prstGeom>
          <a:solidFill>
            <a:srgbClr val="0099CC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5527" y="1342330"/>
            <a:ext cx="380355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Identity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5527" y="1738809"/>
            <a:ext cx="3803555" cy="1255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Title: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Smart Satellite Communication Knowledge Assistant</a:t>
            </a:r>
            <a:endParaRPr lang="en-US" sz="1200" dirty="0"/>
          </a:p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Name: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OrbitIQ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Domain:</a:t>
            </a:r>
            <a:r>
              <a:rPr lang="en-US" sz="12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Aerospace &amp; Satellite Communication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44046" y="1342330"/>
            <a:ext cx="6592425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Why Intelligent Assistance Matters</a:t>
            </a:r>
            <a:endParaRPr lang="en-US" sz="15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03080" y="1762423"/>
            <a:ext cx="236432" cy="2364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56200" y="1757561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Specialized Complexity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56200" y="2154039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Satellite communication involves highly specialized technical knowledge spanning frequency bands, modulation, link budgets, and orbital mechanics.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3080" y="2951857"/>
            <a:ext cx="236432" cy="2364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6200" y="2946995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Fragmented Information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5456200" y="3343473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Engineers and students need rapid access to information distributed across textbooks, research papers, and technical documentation.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3080" y="4141291"/>
            <a:ext cx="236432" cy="23643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456200" y="4136430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Inefficient Workflows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5456200" y="4532908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Traditional search and troubleshooting methods are time-consuming, slowing down learning and problem-solving cycles.</a:t>
            </a:r>
            <a:endParaRPr lang="en-US" sz="12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3080" y="5330726"/>
            <a:ext cx="236432" cy="23643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56200" y="5325864"/>
            <a:ext cx="6080271" cy="24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as the Bridge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5456200" y="5722342"/>
            <a:ext cx="6080271" cy="492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AI-powered assistant can close the knowledge gap and dramatically accelerate both learning and engineering problem resolution.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5321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61475" y="1110952"/>
            <a:ext cx="3129777" cy="196255"/>
          </a:xfrm>
          <a:prstGeom prst="roundRect">
            <a:avLst>
              <a:gd name="adj" fmla="val 47404"/>
            </a:avLst>
          </a:prstGeom>
          <a:noFill/>
          <a:ln w="6350">
            <a:solidFill>
              <a:srgbClr val="0067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8963" y="1149648"/>
            <a:ext cx="3584386" cy="118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06747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SMART SATELLITE COMMUNICATION KNOWLEDGE ASSISTANT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61475" y="1521619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Challenge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37035"/>
            <a:ext cx="2587957" cy="15195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5902" y="1985268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Conceptual Complexity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85902" y="2288084"/>
            <a:ext cx="2215301" cy="9202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Frequency bands, modulation techniques, link budgets, and communication protocols demand deep, specialized expertise to navigate effectively.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0335" y="1837035"/>
            <a:ext cx="2587957" cy="15195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74762" y="1985268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Scattered Knowledge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574762" y="2288084"/>
            <a:ext cx="2215301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Critical information is fragmented across textbooks, research papers, and technical documentation — with no unified access point.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457476"/>
            <a:ext cx="2587957" cy="13354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5902" y="3605709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Slow Retrieval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885902" y="3908524"/>
            <a:ext cx="2215301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Finding relevant information quickly is difficult and time-consuming, creating bottlenecks in both learning and engineering workflows.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0335" y="3457476"/>
            <a:ext cx="2587957" cy="13354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74762" y="3605709"/>
            <a:ext cx="2215301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Demands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3574762" y="3908524"/>
            <a:ext cx="2215301" cy="736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Diagnosing issues requires simultaneous analysis of multiple technical parameters — a task ill-suited to traditional search tools.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6259753" y="1521619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The Objective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6259753" y="1837035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259753" y="2037457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1" name="Text 15"/>
          <p:cNvSpPr/>
          <p:nvPr/>
        </p:nvSpPr>
        <p:spPr>
          <a:xfrm>
            <a:off x="6259753" y="2140148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Information Retrieval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259753" y="2442964"/>
            <a:ext cx="527681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Build an assistant that retrieves accurate information directly from satellite communication documents using RAG.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6259753" y="3008809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259753" y="3209230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5" name="Text 19"/>
          <p:cNvSpPr/>
          <p:nvPr/>
        </p:nvSpPr>
        <p:spPr>
          <a:xfrm>
            <a:off x="6259753" y="3311922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Plain-Language Explanation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259753" y="3614738"/>
            <a:ext cx="527681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Explain complex concepts in simple, accessible language suitable for both students and working engineers.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6259753" y="4180582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259753" y="4381004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9" name="Text 23"/>
          <p:cNvSpPr/>
          <p:nvPr/>
        </p:nvSpPr>
        <p:spPr>
          <a:xfrm>
            <a:off x="6259753" y="4483695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Intelligent Troubleshooting</a:t>
            </a:r>
            <a:endParaRPr lang="en-US" sz="1250" dirty="0"/>
          </a:p>
        </p:txBody>
      </p:sp>
      <p:sp>
        <p:nvSpPr>
          <p:cNvPr id="30" name="Text 24"/>
          <p:cNvSpPr/>
          <p:nvPr/>
        </p:nvSpPr>
        <p:spPr>
          <a:xfrm>
            <a:off x="6259753" y="4786511"/>
            <a:ext cx="527681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 guided, step-by-step troubleshooting for real satellite communication problems.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6259753" y="5168305"/>
            <a:ext cx="258359" cy="1614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6259753" y="5368727"/>
            <a:ext cx="5276817" cy="1905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33" name="Text 27"/>
          <p:cNvSpPr/>
          <p:nvPr/>
        </p:nvSpPr>
        <p:spPr>
          <a:xfrm>
            <a:off x="6259753" y="5471418"/>
            <a:ext cx="527681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Interface</a:t>
            </a:r>
            <a:endParaRPr lang="en-US" sz="1250" dirty="0"/>
          </a:p>
        </p:txBody>
      </p:sp>
      <p:sp>
        <p:nvSpPr>
          <p:cNvPr id="34" name="Text 28"/>
          <p:cNvSpPr/>
          <p:nvPr/>
        </p:nvSpPr>
        <p:spPr>
          <a:xfrm>
            <a:off x="6259753" y="5774234"/>
            <a:ext cx="527681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 natural multi-turn dialogue through an interactive chat interface powered by IBM Granite models.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04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Proposed Solution — OrbitIQ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846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is an AI-powered satellite communication knowledge assistant built using </a:t>
            </a:r>
            <a:r>
              <a:rPr lang="en-US" sz="1300" b="1" dirty="0">
                <a:solidFill>
                  <a:srgbClr val="0099CC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IBM Bob, IBM watsonx.ai, IBM Granite, and Retrieval-Augmented Generation (RAG)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It transforms fragmented technical knowledge into an intelligent, conversational engineering resource.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103735"/>
            <a:ext cx="5351725" cy="2156222"/>
          </a:xfrm>
          <a:prstGeom prst="roundRect">
            <a:avLst>
              <a:gd name="adj" fmla="val 690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3119" y="227538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541" y="2411710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119" y="293677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Retrieval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3294459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Extracts relevant information from technical documents and knowledge bases with semantic precision using RAG pipelines.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8495" y="2103735"/>
            <a:ext cx="5351725" cy="2156222"/>
          </a:xfrm>
          <a:prstGeom prst="roundRect">
            <a:avLst>
              <a:gd name="adj" fmla="val 690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50139" y="227538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6561" y="2411710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0139" y="293677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Concept Explanation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50139" y="3294459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Translates complex satellite communication concepts — frequency bands, link budgets, modulation — into simple, understandable language.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61475" y="4425255"/>
            <a:ext cx="5351725" cy="1891605"/>
          </a:xfrm>
          <a:prstGeom prst="roundRect">
            <a:avLst>
              <a:gd name="adj" fmla="val 786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119" y="459690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9541" y="4733230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119" y="525829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Support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3119" y="5615980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step-by-step guidance for diagnosing and resolving satellite communication problems through structured reasoning.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8495" y="4425255"/>
            <a:ext cx="5351725" cy="1891605"/>
          </a:xfrm>
          <a:prstGeom prst="roundRect">
            <a:avLst>
              <a:gd name="adj" fmla="val 7869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50139" y="4596904"/>
            <a:ext cx="496081" cy="496094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86561" y="4733230"/>
            <a:ext cx="223237" cy="2232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50139" y="5258296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Interface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350139" y="5615980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natural, interactive multi-turn dialogue through an intelligent chat interface that maintains context across sessions.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9007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File Structure — Created Using IBM Bob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65597"/>
            <a:ext cx="11478330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complete OrbitIQ codebase was scaffolded and generated using IBM Bob, following a modular, production-ready directory structure: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61475" y="1282105"/>
            <a:ext cx="5298843" cy="5022850"/>
          </a:xfrm>
          <a:prstGeom prst="roundRect">
            <a:avLst>
              <a:gd name="adj" fmla="val 1991"/>
            </a:avLst>
          </a:prstGeom>
          <a:solidFill>
            <a:srgbClr val="D8ECE5"/>
          </a:solidFill>
          <a:ln/>
        </p:spPr>
      </p:sp>
      <p:sp>
        <p:nvSpPr>
          <p:cNvPr id="5" name="Text 3"/>
          <p:cNvSpPr/>
          <p:nvPr/>
        </p:nvSpPr>
        <p:spPr>
          <a:xfrm>
            <a:off x="794822" y="1393230"/>
            <a:ext cx="503215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satellite-project/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index.html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style.css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script.js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chat.js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upload.js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server.js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config.js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routes/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controllers/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services/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uploads/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files/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documents/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processed/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database/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schema.sql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237727" y="1272778"/>
            <a:ext cx="529884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Module Responsibilities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37727" y="1530350"/>
            <a:ext cx="2612067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199" y="1647825"/>
            <a:ext cx="237712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55199" y="1896070"/>
            <a:ext cx="2377123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Chat UI, document upload panel, and responsive interface components built with HTML, CSS, and JavaScript.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924404" y="1530350"/>
            <a:ext cx="2612166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41876" y="1647825"/>
            <a:ext cx="237722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041876" y="1896070"/>
            <a:ext cx="2377222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Node.js + Express.js server, REST API routes, business logic controllers, and AI service integrations.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37727" y="2534047"/>
            <a:ext cx="2612067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199" y="2651522"/>
            <a:ext cx="2377123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files/ + database/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55199" y="2899767"/>
            <a:ext cx="2377123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Raw document ingestion, processed knowledge embeddings, and MySQL schema for persistent data storage.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24404" y="2534047"/>
            <a:ext cx="2612166" cy="929084"/>
          </a:xfrm>
          <a:prstGeom prst="roundRect">
            <a:avLst>
              <a:gd name="adj" fmla="val 10764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41876" y="2651522"/>
            <a:ext cx="237722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Config &amp; DevOps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41876" y="2899767"/>
            <a:ext cx="2377222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.env for environment secrets, .gitignore for version control hygiene, README.md for project documentation.</a:t>
            </a:r>
            <a:endParaRPr lang="en-US" sz="850" dirty="0"/>
          </a:p>
        </p:txBody>
      </p:sp>
      <p:pic>
        <p:nvPicPr>
          <p:cNvPr id="19" name="Picture 18" descr="title 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797" y="3638954"/>
            <a:ext cx="3226157" cy="295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113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325860"/>
            <a:ext cx="335013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&amp; Development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694259"/>
            <a:ext cx="3350137" cy="15484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1380" y="1857970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Bob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01380" y="2210594"/>
            <a:ext cx="2946525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development, code generation, and AI workflow implementation — the primary development environment for OrbitIQ.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369270"/>
            <a:ext cx="3350137" cy="133131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1380" y="3532981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Granite Models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01380" y="3885605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Natural-language understanding, multi-step reasoning, and context-aware response generation for satellite domain queries.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27191"/>
            <a:ext cx="3350137" cy="133131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1380" y="4990902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watsonx.ai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01380" y="5343525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Enterprise-grade IBM Granite model integration, providing scalable, governed AI capabilities for the assistant.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4370973" y="1325860"/>
            <a:ext cx="34623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&amp; Retrieval</a:t>
            </a:r>
            <a:endParaRPr lang="en-US" sz="14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70973" y="1694259"/>
            <a:ext cx="3462350" cy="15484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10878" y="1857970"/>
            <a:ext cx="305873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610878" y="2210594"/>
            <a:ext cx="3058738" cy="868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Retrieval-Augmented Generation retrieves relevant technical information from the knowledge base before generating any response, ensuring accuracy.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70973" y="3369270"/>
            <a:ext cx="3462350" cy="133131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610878" y="3532981"/>
            <a:ext cx="305873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LangChain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610878" y="3885605"/>
            <a:ext cx="3058738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Orchestrates document processing, embedding pipelines, and the end-to-end RAG workflow integration.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8192684" y="1325860"/>
            <a:ext cx="335013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&amp; Frontend</a:t>
            </a:r>
            <a:endParaRPr lang="en-US" sz="14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2684" y="1694259"/>
            <a:ext cx="3350137" cy="133131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432589" y="1857970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Node.js + Express.js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8432589" y="2210594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Backend services, REST APIs, request routing, and session management for the OrbitIQ platform.</a:t>
            </a:r>
            <a:endParaRPr lang="en-US" sz="110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92684" y="3152180"/>
            <a:ext cx="3350137" cy="133131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8432589" y="3315891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HTML + CSS + JavaScript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8432589" y="3668514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Interactive, responsive frontend interface enabling seamless user interaction with the assistant.</a:t>
            </a:r>
            <a:endParaRPr 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192684" y="4610100"/>
            <a:ext cx="3350137" cy="1331317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8432589" y="4773811"/>
            <a:ext cx="294652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29" name="Text 19"/>
          <p:cNvSpPr/>
          <p:nvPr/>
        </p:nvSpPr>
        <p:spPr>
          <a:xfrm>
            <a:off x="8432589" y="5126434"/>
            <a:ext cx="2946525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Persistent application data storage and processed satellite communication document repository.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213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Bob Screenshots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0956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Professional screenshot showcase demonstrating IBM Bob's role in OrbitIQ development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525514"/>
            <a:ext cx="52326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Screenshot 1 — Application Development &amp; Code Generation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228479"/>
            <a:ext cx="5232666" cy="1438672"/>
          </a:xfrm>
          <a:prstGeom prst="roundRect">
            <a:avLst>
              <a:gd name="adj" fmla="val 10347"/>
            </a:avLst>
          </a:prstGeom>
          <a:solidFill>
            <a:srgbClr val="CCFFE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3474541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3418582"/>
            <a:ext cx="453011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SCREENSHOT 1]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Capture showing IBM Bob generating the OrbitIQ frontend code, including chat interface layout, CSS styling, and JavaScript event handlers.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1475" y="4853186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screenshot demonstrates IBM Bob's ability to scaffold complete, functional frontend components from a single natural-language prompt, accelerating development from ideation to working code.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03904" y="2525514"/>
            <a:ext cx="52326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Screenshot 2 — AI Workflow &amp; RAG Implementation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03904" y="3228479"/>
            <a:ext cx="5232666" cy="1174055"/>
          </a:xfrm>
          <a:prstGeom prst="roundRect">
            <a:avLst>
              <a:gd name="adj" fmla="val 12678"/>
            </a:avLst>
          </a:prstGeom>
          <a:solidFill>
            <a:srgbClr val="CCFFE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474541"/>
            <a:ext cx="206667" cy="1652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41160" y="3418582"/>
            <a:ext cx="453011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SCREENSHOT 2]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Capture showing IBM Bob generating the RAG pipeline, LangChain integration, and IBM Granite model connection logic.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303904" y="4588570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screenshot highlights IBM Bob's role in generating the core intelligence layer — the RAG retrieval workflow, document embedding pipeline, and watsonx.ai API integration that powers OrbitIQ's knowledge engine.</a:t>
            </a:r>
            <a:endParaRPr lang="en-US" sz="1300" dirty="0"/>
          </a:p>
        </p:txBody>
      </p:sp>
      <p:pic>
        <p:nvPicPr>
          <p:cNvPr id="14" name="Picture 13" descr="ibm bo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41" y="3228479"/>
            <a:ext cx="5724000" cy="3046838"/>
          </a:xfrm>
          <a:prstGeom prst="rect">
            <a:avLst/>
          </a:prstGeom>
        </p:spPr>
      </p:pic>
      <p:pic>
        <p:nvPicPr>
          <p:cNvPr id="15" name="Picture 14" descr="watsonix.a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6439" y="3228479"/>
            <a:ext cx="5591586" cy="30468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06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Bob Development Process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0807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IBM Bob was used to build OrbitIQ's core functionality through structured AI-assisted prompting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58727"/>
            <a:ext cx="3512653" cy="3438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3781" y="246757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45819" y="3039170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 Development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45819" y="3396853"/>
            <a:ext cx="3143965" cy="221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Prompt: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"Generate the satellite communication assistant frontend with chat interface, document upload, and responsive design using HTML, CSS, and JavaScript."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PROMPT SCREENSHOT]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OUTPUT SCREENSHOT]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39422" y="2358727"/>
            <a:ext cx="3512752" cy="34386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1728" y="246757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4523766" y="3039170"/>
            <a:ext cx="3144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Implementation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23766" y="3396853"/>
            <a:ext cx="3144064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Prompt: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"Implement RAG-based document retrieval using LangChain, IBM Granite, and IBM watsonx.ai for satellite communication knowledge base."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PROMPT SCREENSHOT]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OUTPUT SCREENSHOT]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2358727"/>
            <a:ext cx="3512653" cy="34386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9774" y="2467570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8201812" y="3039170"/>
            <a:ext cx="314396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Logic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01812" y="3396853"/>
            <a:ext cx="3143965" cy="1951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Prompt: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"Build conversational troubleshooting functionality that guides users through satellite communication problem diagnosis."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PROMPT SCREENSHOT]</a:t>
            </a: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· </a:t>
            </a:r>
            <a:r>
              <a:rPr lang="en-US" sz="130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[INSERT IBM BOB OUTPUT SCREENSHOT]</a:t>
            </a:r>
            <a:endParaRPr lang="en-US" sz="1300" dirty="0"/>
          </a:p>
        </p:txBody>
      </p:sp>
      <p:pic>
        <p:nvPicPr>
          <p:cNvPr id="16" name="Picture 15" descr="watsonix.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183" y="1577379"/>
            <a:ext cx="11078938" cy="50750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244"/>
            <a:ext cx="10868745" cy="403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Architecture Blueprint — OrbitIQ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21978"/>
            <a:ext cx="4717535" cy="2037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7205" y="2601913"/>
            <a:ext cx="700466" cy="25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OrbitIQ Interface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787205" y="2893362"/>
            <a:ext cx="700466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Conversational frontend layer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585823" y="2601913"/>
            <a:ext cx="700466" cy="25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Processing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585823" y="2893362"/>
            <a:ext cx="700466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Intent and context understanding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890129" y="1405852"/>
            <a:ext cx="700467" cy="12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User Query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90129" y="1569721"/>
            <a:ext cx="700467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Initiate request via chat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4456179" y="1405852"/>
            <a:ext cx="700466" cy="25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Retrieval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456179" y="1697301"/>
            <a:ext cx="700466" cy="2725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LangChain retrieval and synthesis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2697677" y="1405852"/>
            <a:ext cx="700467" cy="12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API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97677" y="1569721"/>
            <a:ext cx="700467" cy="181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6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Node.js + Express.js APIs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5700471" y="1209377"/>
            <a:ext cx="5836000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Key Architectural Components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700471" y="1593453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16" name="Text 13"/>
          <p:cNvSpPr/>
          <p:nvPr/>
        </p:nvSpPr>
        <p:spPr>
          <a:xfrm>
            <a:off x="5865963" y="1524794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Frontend Layer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865963" y="1827609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Interactive chat interface, document upload portal, and knowledge browser built with HTML, CSS, and JavaScript.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700471" y="2466181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19" name="Text 16"/>
          <p:cNvSpPr/>
          <p:nvPr/>
        </p:nvSpPr>
        <p:spPr>
          <a:xfrm>
            <a:off x="5865963" y="2397522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Backend Layer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865963" y="2700338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Node.js + Express.js REST APIs handling request routing, session management, and service orchestration.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700471" y="3338909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22" name="Text 19"/>
          <p:cNvSpPr/>
          <p:nvPr/>
        </p:nvSpPr>
        <p:spPr>
          <a:xfrm>
            <a:off x="5865963" y="3270250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RAG Engine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865963" y="3573066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LangChain-based retrieval pipeline with document embedding and semantic search over the knowledge corpus.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00471" y="4211638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25" name="Text 22"/>
          <p:cNvSpPr/>
          <p:nvPr/>
        </p:nvSpPr>
        <p:spPr>
          <a:xfrm>
            <a:off x="5865963" y="4142978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Store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65963" y="4445794"/>
            <a:ext cx="567050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MySQL database storing processed satellite communication documents and embedding indices.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700471" y="4900315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28" name="Text 25"/>
          <p:cNvSpPr/>
          <p:nvPr/>
        </p:nvSpPr>
        <p:spPr>
          <a:xfrm>
            <a:off x="5865963" y="4831655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Engine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865963" y="5134471"/>
            <a:ext cx="5670507" cy="368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models accessed through IBM watsonx.ai for enterprise-grade reasoning and response generation.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00471" y="5773043"/>
            <a:ext cx="64590" cy="64591"/>
          </a:xfrm>
          <a:prstGeom prst="ellipse">
            <a:avLst/>
          </a:prstGeom>
          <a:solidFill>
            <a:srgbClr val="006747"/>
          </a:solidFill>
          <a:ln/>
        </p:spPr>
      </p:sp>
      <p:sp>
        <p:nvSpPr>
          <p:cNvPr id="31" name="Text 28"/>
          <p:cNvSpPr/>
          <p:nvPr/>
        </p:nvSpPr>
        <p:spPr>
          <a:xfrm>
            <a:off x="5865963" y="5704384"/>
            <a:ext cx="5670507" cy="201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Development Layer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5865963" y="6007199"/>
            <a:ext cx="5670507" cy="184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Bob for code generation, workflow automation, and rapid prototyping across all layers.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7597"/>
            <a:ext cx="10868745" cy="347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Role of Agentic AI in OrbitIQ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661475" y="954187"/>
            <a:ext cx="11478330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Agentic AI transforms OrbitIQ from a simple chatbot into an </a:t>
            </a:r>
            <a:r>
              <a:rPr lang="en-US" sz="850" b="1" dirty="0">
                <a:solidFill>
                  <a:srgbClr val="4B4A4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intelligent, autonomous system</a:t>
            </a: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that understands context, retrieves knowledge, and provides expert-level guidance — proactively, not reactively.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261368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99CC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Agentic Workflow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1518940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661475" y="1695152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1776115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Understanding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1475" y="2024360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Analyzes user questions to identify intent, technical domain, and contextual parameters before any retrieval occurs.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61475" y="2330946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1475" y="2507159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2588121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Knowledge Retrieval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1475" y="2836366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Searches the satellite communication knowledge base semantically for the most relevant documents and concepts.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61475" y="3142952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61475" y="3319165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3400127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Granite Reasoning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3648373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Processes retrieved information and synthesizes contextually appropriate, technically accurate responses.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1475" y="3954959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61475" y="4131171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212134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Technical Explanation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1475" y="4460379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Breaks down complex concepts into understandable language calibrated for the user's level of expertise.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1475" y="4766965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05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1475" y="4943177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024140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Troubleshooting Guidance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1475" y="5272385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Provides structured, step-by-step problem diagnosis and resolution pathways for satellite communication issues.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61475" y="5578971"/>
            <a:ext cx="222244" cy="1389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Noto Serif Light" pitchFamily="34" charset="0"/>
                <a:ea typeface="Noto Serif Light" pitchFamily="34" charset="-122"/>
                <a:cs typeface="Noto Serif Light" pitchFamily="34" charset="-120"/>
              </a:rPr>
              <a:t>06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61475" y="5755184"/>
            <a:ext cx="6412744" cy="12700"/>
          </a:xfrm>
          <a:prstGeom prst="rect">
            <a:avLst/>
          </a:prstGeom>
          <a:solidFill>
            <a:srgbClr val="006747"/>
          </a:solidFill>
          <a:ln/>
        </p:spPr>
      </p:sp>
      <p:sp>
        <p:nvSpPr>
          <p:cNvPr id="27" name="Text 25"/>
          <p:cNvSpPr/>
          <p:nvPr/>
        </p:nvSpPr>
        <p:spPr>
          <a:xfrm>
            <a:off x="661475" y="5836146"/>
            <a:ext cx="6412744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Context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475" y="6084391"/>
            <a:ext cx="6412744" cy="14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Maintains full dialogue history to enable coherent, multi-turn conversations without loss of context.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71659" y="1186755"/>
            <a:ext cx="4344780" cy="5213548"/>
          </a:xfrm>
          <a:prstGeom prst="roundRect">
            <a:avLst>
              <a:gd name="adj" fmla="val 3683"/>
            </a:avLst>
          </a:prstGeom>
          <a:solidFill>
            <a:srgbClr val="0099CC">
              <a:alpha val="9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7382782" y="1261368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System Coordination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82782" y="1509613"/>
            <a:ext cx="4122535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OrbitIQ's agentic core </a:t>
            </a: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orchestrates retrieval, reasoning, and response generation seamlessly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functioning not as a passive lookup tool, but as a goal-oriented engineering collaborator.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82782" y="2067223"/>
            <a:ext cx="4122535" cy="12700"/>
          </a:xfrm>
          <a:prstGeom prst="roundRect">
            <a:avLst>
              <a:gd name="adj" fmla="val 49999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82782" y="2191643"/>
            <a:ext cx="4122535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Impact Statement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82782" y="2439888"/>
            <a:ext cx="4122535" cy="445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combines </a:t>
            </a: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Agentic AI, RAG, and IBM Granite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transform scattered satellite communication knowledge into an interactive engineering assistant that is: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82782" y="2952948"/>
            <a:ext cx="4122535" cy="498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Proactive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anticipates information needs</a:t>
            </a:r>
            <a:endParaRPr lang="en-US" sz="850" dirty="0"/>
          </a:p>
          <a:p>
            <a:pPr marL="172720" indent="-172720" algn="l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Context-aware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tracks conversation and intent</a:t>
            </a:r>
            <a:endParaRPr lang="en-US" sz="850" dirty="0"/>
          </a:p>
          <a:p>
            <a:pPr marL="172720" indent="-172720" algn="l">
              <a:lnSpc>
                <a:spcPct val="111000"/>
              </a:lnSpc>
              <a:buSzPct val="100000"/>
              <a:buChar char="•"/>
            </a:pPr>
            <a:r>
              <a:rPr lang="en-US" sz="8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Goal-oriented</a:t>
            </a:r>
            <a:r>
              <a:rPr lang="en-US" sz="8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drives toward problem resolution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5" y="1076226"/>
            <a:ext cx="3528924" cy="47054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657622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Token Usage</a:t>
            </a:r>
            <a:endParaRPr lang="en-US" sz="3150" dirty="0"/>
          </a:p>
        </p:txBody>
      </p:sp>
      <p:sp>
        <p:nvSpPr>
          <p:cNvPr id="5" name="Text 1"/>
          <p:cNvSpPr/>
          <p:nvPr/>
        </p:nvSpPr>
        <p:spPr>
          <a:xfrm>
            <a:off x="5233360" y="1364456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token usage summary for the OrbitIQ project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5463046" y="1836043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[PROMPT]</a:t>
            </a:r>
            <a:endParaRPr lang="en-US" sz="4150" dirty="0"/>
          </a:p>
        </p:txBody>
      </p:sp>
      <p:sp>
        <p:nvSpPr>
          <p:cNvPr id="7" name="Text 3"/>
          <p:cNvSpPr/>
          <p:nvPr/>
        </p:nvSpPr>
        <p:spPr>
          <a:xfrm>
            <a:off x="5233360" y="2548930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Prompt Tokens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5233360" y="2881809"/>
            <a:ext cx="306310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Tokens used in prompts sent to IBM Granite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696802" y="1836043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[RESPONSE]</a:t>
            </a:r>
            <a:endParaRPr lang="en-US" sz="4150" dirty="0"/>
          </a:p>
        </p:txBody>
      </p:sp>
      <p:sp>
        <p:nvSpPr>
          <p:cNvPr id="10" name="Text 6"/>
          <p:cNvSpPr/>
          <p:nvPr/>
        </p:nvSpPr>
        <p:spPr>
          <a:xfrm>
            <a:off x="8467116" y="2548930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Response Tokens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467116" y="2881809"/>
            <a:ext cx="306310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Tokens generated in model responses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079874" y="3710583"/>
            <a:ext cx="2603633" cy="5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[TOTAL]</a:t>
            </a:r>
            <a:endParaRPr lang="en-US" sz="4150" dirty="0"/>
          </a:p>
        </p:txBody>
      </p:sp>
      <p:sp>
        <p:nvSpPr>
          <p:cNvPr id="13" name="Text 9"/>
          <p:cNvSpPr/>
          <p:nvPr/>
        </p:nvSpPr>
        <p:spPr>
          <a:xfrm>
            <a:off x="6850189" y="4423470"/>
            <a:ext cx="3063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Total Tokens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6850189" y="4756348"/>
            <a:ext cx="3063104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Combined token consumption across the full project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233360" y="5385395"/>
            <a:ext cx="6296860" cy="814983"/>
          </a:xfrm>
          <a:prstGeom prst="roundRect">
            <a:avLst>
              <a:gd name="adj" fmla="val 17743"/>
            </a:avLst>
          </a:prstGeom>
          <a:solidFill>
            <a:srgbClr val="CCFFEF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3992" y="5580162"/>
            <a:ext cx="200814" cy="16063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755436" y="5562005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Replace [PROMPT], [RESPONSE], and [TOTAL] with actual token counts from IBM Granite usage logs.</a:t>
            </a:r>
            <a:endParaRPr lang="en-US" sz="1250" dirty="0"/>
          </a:p>
        </p:txBody>
      </p:sp>
      <p:pic>
        <p:nvPicPr>
          <p:cNvPr id="18" name="Picture 17" descr="ss1.png"/>
          <p:cNvPicPr>
            <a:picLocks noChangeAspect="1"/>
          </p:cNvPicPr>
          <p:nvPr/>
        </p:nvPicPr>
        <p:blipFill>
          <a:blip r:embed="rId5"/>
          <a:srcRect t="10944" r="-5122"/>
          <a:stretch>
            <a:fillRect/>
          </a:stretch>
        </p:blipFill>
        <p:spPr>
          <a:xfrm>
            <a:off x="3609289" y="1364456"/>
            <a:ext cx="8614548" cy="50512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43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Output – OrbitIQ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536105"/>
            <a:ext cx="2290904" cy="287139"/>
          </a:xfrm>
          <a:prstGeom prst="roundRect">
            <a:avLst>
              <a:gd name="adj" fmla="val 47396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74879" y="1592759"/>
            <a:ext cx="26736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SCREENSHOT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25350" y="2035870"/>
            <a:ext cx="7175519" cy="4254698"/>
          </a:xfrm>
          <a:prstGeom prst="roundRect">
            <a:avLst>
              <a:gd name="adj" fmla="val 6397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14357" y="2224881"/>
            <a:ext cx="6797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OrbitIQ in Action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709168"/>
            <a:ext cx="67975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OrbitIQ conversational interface enables engineers and students to query satellite communication knowledge naturally — no manual document searching required.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4357" y="3786485"/>
            <a:ext cx="6797505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Natural-language Q&amp;A interface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Powered by IBM Granite reasoning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Context-aware knowledge retrieval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4357" y="5038527"/>
            <a:ext cx="6797505" cy="1039416"/>
          </a:xfrm>
          <a:prstGeom prst="roundRect">
            <a:avLst>
              <a:gd name="adj" fmla="val 16367"/>
            </a:avLst>
          </a:prstGeom>
          <a:solidFill>
            <a:srgbClr val="CCFFEF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364" y="5325269"/>
            <a:ext cx="236234" cy="1890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8605" y="5255816"/>
            <a:ext cx="599425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OrbitIQ Application Screenshot 1 — showing the main chat or query interface.</a:t>
            </a:r>
            <a:endParaRPr lang="en-US" sz="14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411016"/>
            <a:ext cx="3504219" cy="3504307"/>
          </a:xfrm>
          <a:prstGeom prst="rect">
            <a:avLst/>
          </a:prstGeom>
        </p:spPr>
      </p:pic>
      <p:pic>
        <p:nvPicPr>
          <p:cNvPr id="13" name="Picture 12" descr="ss2.png"/>
          <p:cNvPicPr>
            <a:picLocks noChangeAspect="1"/>
          </p:cNvPicPr>
          <p:nvPr/>
        </p:nvPicPr>
        <p:blipFill>
          <a:blip r:embed="rId4"/>
          <a:srcRect t="9754"/>
          <a:stretch>
            <a:fillRect/>
          </a:stretch>
        </p:blipFill>
        <p:spPr>
          <a:xfrm>
            <a:off x="266839" y="1158081"/>
            <a:ext cx="11460938" cy="5544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745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Output – Knowledge Retrieval</a:t>
            </a:r>
            <a:endParaRPr lang="en-US" sz="3150" dirty="0"/>
          </a:p>
        </p:txBody>
      </p:sp>
      <p:sp>
        <p:nvSpPr>
          <p:cNvPr id="3" name="Shape 1"/>
          <p:cNvSpPr/>
          <p:nvPr/>
        </p:nvSpPr>
        <p:spPr>
          <a:xfrm>
            <a:off x="661475" y="1542554"/>
            <a:ext cx="1977976" cy="243979"/>
          </a:xfrm>
          <a:prstGeom prst="roundRect">
            <a:avLst>
              <a:gd name="adj" fmla="val 47414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57814" y="1590675"/>
            <a:ext cx="2394882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SCREENSHOT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61475" y="1940123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Retrieval-Augmented Generation (RAG) surfaces precise, document-grounded answers from the OrbitIQ satellite communication knowledge base.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672" y="2702421"/>
            <a:ext cx="3016869" cy="30169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08993" y="2467967"/>
            <a:ext cx="692747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How RAG Works in OrbitIQ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608993" y="2872581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9167" y="290264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106959" y="2927747"/>
            <a:ext cx="28804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Query Ingestion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106959" y="3315295"/>
            <a:ext cx="288044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submits a natural-language question about satellite systems or protocols.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58058" y="2872581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18232" y="290264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656024" y="2927747"/>
            <a:ext cx="28804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Document Retrieval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656024" y="3315295"/>
            <a:ext cx="288044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Relevant technical documents are retrieved from the vector knowledge base.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08993" y="4301530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9167" y="4331593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5106959" y="4356695"/>
            <a:ext cx="6429512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Grounded Response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106959" y="4744244"/>
            <a:ext cx="6429512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synthesizes a precise, document-backed answer for the user.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08993" y="5135563"/>
            <a:ext cx="6927478" cy="801291"/>
          </a:xfrm>
          <a:prstGeom prst="roundRect">
            <a:avLst>
              <a:gd name="adj" fmla="val 18046"/>
            </a:avLst>
          </a:prstGeom>
          <a:solidFill>
            <a:srgbClr val="CCFFEF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624" y="5343029"/>
            <a:ext cx="200814" cy="16063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31069" y="5298480"/>
            <a:ext cx="624477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2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OrbitIQ Output Screenshot 2 — showing a knowledge retrieval result.</a:t>
            </a:r>
            <a:endParaRPr lang="en-US" sz="1250" dirty="0"/>
          </a:p>
        </p:txBody>
      </p:sp>
      <p:pic>
        <p:nvPicPr>
          <p:cNvPr id="23" name="Picture 22" descr="ss3.png"/>
          <p:cNvPicPr>
            <a:picLocks noChangeAspect="1"/>
          </p:cNvPicPr>
          <p:nvPr/>
        </p:nvPicPr>
        <p:blipFill>
          <a:blip r:embed="rId4"/>
          <a:srcRect l="-2479" t="11290"/>
          <a:stretch>
            <a:fillRect/>
          </a:stretch>
        </p:blipFill>
        <p:spPr>
          <a:xfrm>
            <a:off x="370332" y="1490479"/>
            <a:ext cx="11005508" cy="507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751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Project Output – Troubleshooting &amp; Concept Explanation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61475" y="1947168"/>
            <a:ext cx="2093265" cy="258465"/>
          </a:xfrm>
          <a:prstGeom prst="roundRect">
            <a:avLst>
              <a:gd name="adj" fmla="val 47389"/>
            </a:avLst>
          </a:prstGeom>
          <a:solidFill>
            <a:srgbClr val="CCFFEF"/>
          </a:solidFill>
          <a:ln/>
        </p:spPr>
      </p:sp>
      <p:sp>
        <p:nvSpPr>
          <p:cNvPr id="4" name="Text 2"/>
          <p:cNvSpPr/>
          <p:nvPr/>
        </p:nvSpPr>
        <p:spPr>
          <a:xfrm>
            <a:off x="763469" y="1998166"/>
            <a:ext cx="2498861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APPLICATION SCREENSHOT 3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61475" y="2530971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AI-Powered Engineering Support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2949773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breaks down complex satellite communication concepts and guides users through systematic troubleshooting — transforming dense engineering knowledge into clear, actionable guidance.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863181"/>
            <a:ext cx="6919442" cy="1194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Step-by-step issue diagnosis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Plain-language concept explanations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Signal analysis and link-budget guidance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Contextual follow-up question support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475" y="5230416"/>
            <a:ext cx="6919442" cy="877491"/>
          </a:xfrm>
          <a:prstGeom prst="roundRect">
            <a:avLst>
              <a:gd name="adj" fmla="val 17448"/>
            </a:avLst>
          </a:prstGeom>
          <a:solidFill>
            <a:srgbClr val="CCFFEF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32" y="5461298"/>
            <a:ext cx="212620" cy="17006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4209" y="5410597"/>
            <a:ext cx="619665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3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OrbitIQ Output Screenshot 3 — showing a troubleshooting or concept explanation response.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93" y="2738537"/>
            <a:ext cx="3180774" cy="3180854"/>
          </a:xfrm>
          <a:prstGeom prst="rect">
            <a:avLst/>
          </a:prstGeom>
        </p:spPr>
      </p:pic>
      <p:pic>
        <p:nvPicPr>
          <p:cNvPr id="13" name="Picture 12" descr="ss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52" y="1151465"/>
            <a:ext cx="10678168" cy="514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719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Novelty &amp; Uniqueness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326356"/>
            <a:ext cx="1147833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i="1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transforms fragmented satellite communication knowledge into an accessible, intelligent, and interactive engineering assistant.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644352"/>
            <a:ext cx="5381193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506" y="1792387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"/>
              </a:ext>
            </a:extLst>
          </a:blip>
          <a:stretch>
            <a:fillRect/>
          </a:stretch>
        </p:blipFill>
        <p:spPr>
          <a:xfrm>
            <a:off x="926482" y="1909266"/>
            <a:ext cx="191289" cy="191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9506" y="2323902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Domain-Specific RAG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09506" y="2609056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Retrieves relevant knowledge directly from satellite communication technical documents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48928" y="1644352"/>
            <a:ext cx="5381292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6959" y="1792387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="" xmlns:asvg="http://schemas.microsoft.com/office/drawing/2016/SVG/main" r:embed=""/>
              </a:ext>
            </a:extLst>
          </a:blip>
          <a:stretch>
            <a:fillRect/>
          </a:stretch>
        </p:blipFill>
        <p:spPr>
          <a:xfrm>
            <a:off x="6413935" y="1909266"/>
            <a:ext cx="191289" cy="1912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96959" y="2323902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Simple Technical Explanations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296959" y="2609056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Converts complex engineering concepts into understandable, clear responses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61475" y="3260229"/>
            <a:ext cx="5381193" cy="1311176"/>
          </a:xfrm>
          <a:prstGeom prst="roundRect">
            <a:avLst>
              <a:gd name="adj" fmla="val 973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9506" y="3408263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"/>
              </a:ext>
            </a:extLst>
          </a:blip>
          <a:stretch>
            <a:fillRect/>
          </a:stretch>
        </p:blipFill>
        <p:spPr>
          <a:xfrm>
            <a:off x="926482" y="3525143"/>
            <a:ext cx="191289" cy="1912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9506" y="3939778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AI Troubleshooting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09506" y="4224933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Supports systematic analysis of satellite communication faults and issues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148928" y="3260229"/>
            <a:ext cx="5381292" cy="1311176"/>
          </a:xfrm>
          <a:prstGeom prst="roundRect">
            <a:avLst>
              <a:gd name="adj" fmla="val 9731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296959" y="3408263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"/>
              </a:ext>
            </a:extLst>
          </a:blip>
          <a:stretch>
            <a:fillRect/>
          </a:stretch>
        </p:blipFill>
        <p:spPr>
          <a:xfrm>
            <a:off x="6413935" y="3525143"/>
            <a:ext cx="191289" cy="1912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6959" y="3939778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Conversational Access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296959" y="4224933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Natural-language interaction replaces manual document searching entirely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61475" y="4677668"/>
            <a:ext cx="5381193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09506" y="4825702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"/>
              </a:ext>
            </a:extLst>
          </a:blip>
          <a:stretch>
            <a:fillRect/>
          </a:stretch>
        </p:blipFill>
        <p:spPr>
          <a:xfrm>
            <a:off x="926482" y="4942582"/>
            <a:ext cx="191289" cy="1912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09506" y="5357217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Granite Integration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809506" y="5642372"/>
            <a:ext cx="50851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Uses IBM Granite for intelligent reasoning and high-quality response generation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48928" y="4677668"/>
            <a:ext cx="5381292" cy="1509613"/>
          </a:xfrm>
          <a:prstGeom prst="roundRect">
            <a:avLst>
              <a:gd name="adj" fmla="val 8452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296959" y="4825702"/>
            <a:ext cx="425241" cy="425252"/>
          </a:xfrm>
          <a:prstGeom prst="ellipse">
            <a:avLst/>
          </a:prstGeom>
          <a:solidFill>
            <a:srgbClr val="00674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"/>
              </a:ext>
            </a:extLst>
          </a:blip>
          <a:stretch>
            <a:fillRect/>
          </a:stretch>
        </p:blipFill>
        <p:spPr>
          <a:xfrm>
            <a:off x="6413935" y="4942582"/>
            <a:ext cx="191289" cy="19129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96959" y="5357217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Agentic Workflow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296959" y="5642372"/>
            <a:ext cx="508523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Combines retrieval, reasoning, and response into one intelligent end-to-end workflow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41251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GitHub Repository</a:t>
            </a:r>
            <a:endParaRPr lang="en-US" sz="2950" dirty="0"/>
          </a:p>
        </p:txBody>
      </p:sp>
      <p:sp>
        <p:nvSpPr>
          <p:cNvPr id="3" name="Shape 1"/>
          <p:cNvSpPr/>
          <p:nvPr/>
        </p:nvSpPr>
        <p:spPr>
          <a:xfrm>
            <a:off x="1195258" y="1295102"/>
            <a:ext cx="4905649" cy="4921548"/>
          </a:xfrm>
          <a:prstGeom prst="roundRect">
            <a:avLst>
              <a:gd name="adj" fmla="val 4439"/>
            </a:avLst>
          </a:prstGeom>
          <a:solidFill>
            <a:srgbClr val="E5F9F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3840" y="2058988"/>
            <a:ext cx="460323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Repository URL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03840" y="2416175"/>
            <a:ext cx="5212823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150" dirty="0" smtClean="0"/>
              <a:t>https://github.com/yeshubhatkande-alt/OrbitIQ-Satellite-Communication-AI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03840" y="2807692"/>
            <a:ext cx="4603238" cy="19050"/>
          </a:xfrm>
          <a:prstGeom prst="roundRect">
            <a:avLst>
              <a:gd name="adj" fmla="val 49999"/>
            </a:avLst>
          </a:prstGeom>
          <a:solidFill>
            <a:srgbClr val="4B4A4A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03840" y="3000573"/>
            <a:ext cx="460323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Repository Contents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03840" y="3357761"/>
            <a:ext cx="4603238" cy="1215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 relevant IBM watsonx / IBM Cloud agent files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Problem Statement PDF (No. 24 — Aerospace &amp; Satellite Communication)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Presentation PPTX</a:t>
            </a:r>
            <a:endParaRPr lang="en-US" sz="1150" dirty="0"/>
          </a:p>
          <a:p>
            <a:pPr marL="233680" indent="-233680" algn="l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Other project files and supporting documentation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046" y="4894163"/>
            <a:ext cx="189007" cy="15120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95258" y="4855666"/>
            <a:ext cx="3960614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888" y="1431131"/>
            <a:ext cx="4649374" cy="464949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202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Future Scope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562298"/>
            <a:ext cx="10868745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OrbitIQ is designed to grow — the roadmap below outlines key enhancements planned to extend its capabilities across real-time data, advanced analysis, and broader accessibility.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4131072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5" name="Shape 3"/>
          <p:cNvSpPr/>
          <p:nvPr/>
        </p:nvSpPr>
        <p:spPr>
          <a:xfrm>
            <a:off x="2143567" y="3649117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6" name="Shape 4"/>
          <p:cNvSpPr/>
          <p:nvPr/>
        </p:nvSpPr>
        <p:spPr>
          <a:xfrm>
            <a:off x="1972419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32594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22106" y="2191345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Real-Time Telemetry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106" y="2524224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Integrate live satellite telemetry and communication parameters for context-aware troubleshooting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20610" y="4131022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1" name="Shape 9"/>
          <p:cNvSpPr/>
          <p:nvPr/>
        </p:nvSpPr>
        <p:spPr>
          <a:xfrm>
            <a:off x="3549462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09637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2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2399149" y="4773712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Multilingual Voice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399149" y="5106591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voice interaction and multi-language support for global engineering teams and students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97653" y="3649117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6" name="Shape 14"/>
          <p:cNvSpPr/>
          <p:nvPr/>
        </p:nvSpPr>
        <p:spPr>
          <a:xfrm>
            <a:off x="5126505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86679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3976191" y="2191345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Signal Analysis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976191" y="2524224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Automated analysis of SNR, BER, signal quality, and interference parameters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874695" y="4131022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03547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3722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4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5553234" y="4773712"/>
            <a:ext cx="266217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Expanded Knowledge Base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553234" y="5357614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Add research papers, ITU standards, manufacturer manuals, and technical documentation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51738" y="3649117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26" name="Shape 24"/>
          <p:cNvSpPr/>
          <p:nvPr/>
        </p:nvSpPr>
        <p:spPr>
          <a:xfrm>
            <a:off x="8280590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40764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5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130276" y="2191345"/>
            <a:ext cx="2662171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Predictive Troubleshooting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130276" y="2775248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historical data to detect and predict communication failures before they occur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028780" y="4131022"/>
            <a:ext cx="19050" cy="482005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31" name="Shape 29"/>
          <p:cNvSpPr/>
          <p:nvPr/>
        </p:nvSpPr>
        <p:spPr>
          <a:xfrm>
            <a:off x="9857632" y="3950345"/>
            <a:ext cx="361445" cy="361454"/>
          </a:xfrm>
          <a:prstGeom prst="roundRect">
            <a:avLst>
              <a:gd name="adj" fmla="val 40006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7807" y="3980408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6</a:t>
            </a:r>
            <a:endParaRPr lang="en-US" sz="1850" dirty="0"/>
          </a:p>
        </p:txBody>
      </p:sp>
      <p:sp>
        <p:nvSpPr>
          <p:cNvPr id="33" name="Text 31"/>
          <p:cNvSpPr/>
          <p:nvPr/>
        </p:nvSpPr>
        <p:spPr>
          <a:xfrm>
            <a:off x="8707319" y="4773712"/>
            <a:ext cx="266217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Visual Dashboard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8707319" y="5106591"/>
            <a:ext cx="266217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3000"/>
              </a:lnSpc>
              <a:buNone/>
            </a:pPr>
            <a:r>
              <a:rPr lang="en-US" sz="12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Interactive link-budget analysis, signal metrics, and real-time communication status visualization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158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Certificates Earned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893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Credly Certificate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56321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credential recognizes successful completion of IBM-certified learning modules and skill validation relevant to the OrbitIQ project.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338116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Issued via Credly digital badging platform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Verifiable and publicly shareable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Validates IBM AI &amp; cloud skill competency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590157"/>
            <a:ext cx="6903269" cy="1039416"/>
          </a:xfrm>
          <a:prstGeom prst="roundRect">
            <a:avLst>
              <a:gd name="adj" fmla="val 16367"/>
            </a:avLst>
          </a:prstGeom>
          <a:solidFill>
            <a:srgbClr val="CCFFE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482" y="4876899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80744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45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Credly Certificate image or badge screenshot here before final submission.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  <p:pic>
        <p:nvPicPr>
          <p:cNvPr id="10" name="Picture 9" descr="ai certific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6" y="1761422"/>
            <a:ext cx="8386271" cy="497113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85219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Thank You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1518444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OrbitIQ — Smart Satellite Communication Knowledge Assistant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61475" y="2392462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AI-powered assistant that combines RAG, Agentic AI, IBM Granite, and conversational interaction to make satellite communication knowledge easier to retrieve, understand, and apply.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661475" y="3512344"/>
            <a:ext cx="6296860" cy="2493367"/>
          </a:xfrm>
          <a:prstGeom prst="roundRect">
            <a:avLst>
              <a:gd name="adj" fmla="val 6823"/>
            </a:avLst>
          </a:prstGeom>
          <a:solidFill>
            <a:srgbClr val="D1EFE4"/>
          </a:solidFill>
          <a:ln w="6350">
            <a:solidFill>
              <a:srgbClr val="B7D5CA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7825" y="3518694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141764" y="0"/>
                </a:moveTo>
                <a:lnTo>
                  <a:pt x="3142080" y="0"/>
                </a:lnTo>
                <a:lnTo>
                  <a:pt x="3142080" y="1391543"/>
                </a:lnTo>
                <a:lnTo>
                  <a:pt x="0" y="1391543"/>
                </a:lnTo>
                <a:lnTo>
                  <a:pt x="0" y="141768"/>
                </a:lnTo>
                <a:arcTo wR="141764" hR="141768" stAng="10800000" swAng="5400000"/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9" name="Text 5"/>
          <p:cNvSpPr/>
          <p:nvPr/>
        </p:nvSpPr>
        <p:spPr>
          <a:xfrm>
            <a:off x="856832" y="370770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Domain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856832" y="4116387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Aerospace &amp; Satellite Communication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3809905" y="3518694"/>
            <a:ext cx="3142080" cy="1391543"/>
          </a:xfrm>
          <a:custGeom>
            <a:avLst/>
            <a:gdLst/>
            <a:ahLst/>
            <a:cxnLst/>
            <a:rect l="l" t="t" r="r" b="b"/>
            <a:pathLst>
              <a:path w="3142080" h="1391543">
                <a:moveTo>
                  <a:pt x="0" y="0"/>
                </a:moveTo>
                <a:lnTo>
                  <a:pt x="3000316" y="0"/>
                </a:lnTo>
                <a:arcTo wR="141764" hR="141768" stAng="16200000" swAng="5400000"/>
                <a:lnTo>
                  <a:pt x="3142080" y="1391543"/>
                </a:ln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2" name="Shape 8"/>
          <p:cNvSpPr/>
          <p:nvPr/>
        </p:nvSpPr>
        <p:spPr>
          <a:xfrm>
            <a:off x="3809905" y="3518694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B7D5CA"/>
          </a:solidFill>
          <a:ln/>
        </p:spPr>
      </p:sp>
      <p:sp>
        <p:nvSpPr>
          <p:cNvPr id="13" name="Text 9"/>
          <p:cNvSpPr/>
          <p:nvPr/>
        </p:nvSpPr>
        <p:spPr>
          <a:xfrm>
            <a:off x="3998912" y="3707705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Problem Statement</a:t>
            </a:r>
            <a:endParaRPr lang="en-US" sz="1850" dirty="0"/>
          </a:p>
        </p:txBody>
      </p:sp>
      <p:sp>
        <p:nvSpPr>
          <p:cNvPr id="14" name="Text 10"/>
          <p:cNvSpPr/>
          <p:nvPr/>
        </p:nvSpPr>
        <p:spPr>
          <a:xfrm>
            <a:off x="3998912" y="4116387"/>
            <a:ext cx="276406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No. 24 — IBM University Engagement Program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67825" y="4910237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947357"/>
                </a:lnTo>
                <a:arcTo wR="141764" hR="141768" stAng="0" swAng="5400000"/>
                <a:lnTo>
                  <a:pt x="141764" y="1089124"/>
                </a:lnTo>
                <a:arcTo wR="141764" hR="141768" stAng="5400000" swAng="5400000"/>
                <a:lnTo>
                  <a:pt x="0" y="0"/>
                </a:lnTo>
                <a:close/>
              </a:path>
            </a:pathLst>
          </a:custGeom>
          <a:solidFill>
            <a:srgbClr val="D1EFE4"/>
          </a:solidFill>
          <a:ln/>
        </p:spPr>
      </p:sp>
      <p:sp>
        <p:nvSpPr>
          <p:cNvPr id="16" name="Shape 12"/>
          <p:cNvSpPr/>
          <p:nvPr/>
        </p:nvSpPr>
        <p:spPr>
          <a:xfrm>
            <a:off x="667825" y="4910237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7D5CA"/>
          </a:solidFill>
          <a:ln/>
        </p:spPr>
      </p:sp>
      <p:sp>
        <p:nvSpPr>
          <p:cNvPr id="17" name="Text 13"/>
          <p:cNvSpPr/>
          <p:nvPr/>
        </p:nvSpPr>
        <p:spPr>
          <a:xfrm>
            <a:off x="856832" y="509924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B4A4A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Core Stack</a:t>
            </a:r>
            <a:endParaRPr lang="en-US" sz="1850" dirty="0"/>
          </a:p>
        </p:txBody>
      </p:sp>
      <p:sp>
        <p:nvSpPr>
          <p:cNvPr id="18" name="Text 14"/>
          <p:cNvSpPr/>
          <p:nvPr/>
        </p:nvSpPr>
        <p:spPr>
          <a:xfrm>
            <a:off x="856832" y="550793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IBM Granite · RAG · Agentic AI · watsonx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2538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Certificates Earned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441" y="2792611"/>
            <a:ext cx="2089693" cy="20897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305688" y="1770162"/>
            <a:ext cx="446225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6747"/>
                </a:solidFill>
                <a:latin typeface="Noto Serif Bold" pitchFamily="34" charset="0"/>
                <a:ea typeface="Noto Serif Bold" pitchFamily="34" charset="-122"/>
                <a:cs typeface="Noto Serif Bold" pitchFamily="34" charset="-120"/>
              </a:rPr>
              <a:t>IBM watsonx Certificate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305688" y="2221210"/>
            <a:ext cx="4462252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Official project completion certificate from IBM recognizing the successful development and submission of OrbitIQ under the IBM University Engagement Program.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305688" y="3495080"/>
            <a:ext cx="4462252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Issued by IBM upon project completion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Acknowledges applied AI &amp; agentic workflow skills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4B4A4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Problem Statement No. 24 — Aerospace &amp; Satellite Communication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305688" y="4926608"/>
            <a:ext cx="4462252" cy="956866"/>
          </a:xfrm>
          <a:prstGeom prst="roundRect">
            <a:avLst>
              <a:gd name="adj" fmla="val 16890"/>
            </a:avLst>
          </a:prstGeom>
          <a:solidFill>
            <a:srgbClr val="CCFFE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5170" y="5188148"/>
            <a:ext cx="224427" cy="1794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89079" y="5124946"/>
            <a:ext cx="3699378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Placeholder:</a:t>
            </a:r>
            <a:r>
              <a:rPr lang="en-US" sz="14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Insert IBM watsonx / IBM Bob Certificate i</a:t>
            </a:r>
            <a:endParaRPr lang="en-US" sz="1400" dirty="0"/>
          </a:p>
        </p:txBody>
      </p:sp>
      <p:pic>
        <p:nvPicPr>
          <p:cNvPr id="10" name="Picture 9" descr="lab troublesho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3082" y="2050653"/>
            <a:ext cx="7560230" cy="475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2130</Words>
  <Application>Microsoft Office PowerPoint</Application>
  <PresentationFormat>Custom</PresentationFormat>
  <Paragraphs>310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Noto Serif Bold</vt:lpstr>
      <vt:lpstr>Calibri</vt:lpstr>
      <vt:lpstr>Geist</vt:lpstr>
      <vt:lpstr>Geist Bold</vt:lpstr>
      <vt:lpstr>Noto Serif Light</vt:lpstr>
      <vt:lpstr>Consolas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3</cp:revision>
  <dcterms:created xsi:type="dcterms:W3CDTF">2026-09-23T14:33:39Z</dcterms:created>
  <dcterms:modified xsi:type="dcterms:W3CDTF">2026-09-23T17:36:38Z</dcterms:modified>
</cp:coreProperties>
</file>